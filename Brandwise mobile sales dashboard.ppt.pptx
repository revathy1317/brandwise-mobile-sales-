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3D32F64-A3E5-4F03-A394-7A9F54BD385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5" autoAdjust="0"/>
    <p:restoredTop sz="94660"/>
  </p:normalViewPr>
  <p:slideViewPr>
    <p:cSldViewPr snapToGrid="0">
      <p:cViewPr varScale="1">
        <p:scale>
          <a:sx n="72" d="100"/>
          <a:sy n="72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F9079-6DFE-4824-948D-1409022C498E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F7A1D-701B-4561-898D-E539DB83C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132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F9079-6DFE-4824-948D-1409022C498E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F7A1D-701B-4561-898D-E539DB83C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25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F9079-6DFE-4824-948D-1409022C498E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F7A1D-701B-4561-898D-E539DB83C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3335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F9079-6DFE-4824-948D-1409022C498E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F7A1D-701B-4561-898D-E539DB83C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393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F9079-6DFE-4824-948D-1409022C498E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F7A1D-701B-4561-898D-E539DB83C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347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F9079-6DFE-4824-948D-1409022C498E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F7A1D-701B-4561-898D-E539DB83C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757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F9079-6DFE-4824-948D-1409022C498E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F7A1D-701B-4561-898D-E539DB83C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941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F9079-6DFE-4824-948D-1409022C498E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F7A1D-701B-4561-898D-E539DB83C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562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F7A1D-701B-4561-898D-E539DB83C5F7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F9079-6DFE-4824-948D-1409022C498E}" type="datetimeFigureOut">
              <a:rPr lang="en-IN" smtClean="0"/>
              <a:t>05-05-2026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776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F9079-6DFE-4824-948D-1409022C498E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F7A1D-701B-4561-898D-E539DB83C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2661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F9079-6DFE-4824-948D-1409022C498E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F7A1D-701B-4561-898D-E539DB83C5F7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112640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F9079-6DFE-4824-948D-1409022C498E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F7A1D-701B-4561-898D-E539DB83C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4924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F9079-6DFE-4824-948D-1409022C498E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F7A1D-701B-4561-898D-E539DB83C5F7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508584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F9079-6DFE-4824-948D-1409022C498E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F7A1D-701B-4561-898D-E539DB83C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9598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F9079-6DFE-4824-948D-1409022C498E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F7A1D-701B-4561-898D-E539DB83C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98840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F9079-6DFE-4824-948D-1409022C498E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F7A1D-701B-4561-898D-E539DB83C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385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7F9079-6DFE-4824-948D-1409022C498E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F1F7A1D-701B-4561-898D-E539DB83C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307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8358D9-7C81-E66D-2CF4-9DAF20462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37" y="1156308"/>
            <a:ext cx="8911687" cy="1280890"/>
          </a:xfrm>
        </p:spPr>
        <p:txBody>
          <a:bodyPr>
            <a:normAutofit/>
          </a:bodyPr>
          <a:lstStyle/>
          <a:p>
            <a:r>
              <a:rPr lang="en-US" b="1" dirty="0"/>
              <a:t> </a:t>
            </a:r>
            <a:r>
              <a:rPr lang="en-US" sz="4000" b="1" dirty="0"/>
              <a:t>Brandwise Mobile Sales Dashboard</a:t>
            </a:r>
            <a:endParaRPr lang="en-IN" sz="4000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EAD4D81-2280-F23C-8647-0A2D8ACF6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8900" y="4884976"/>
            <a:ext cx="6008493" cy="12867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dirty="0"/>
              <a:t>         </a:t>
            </a:r>
            <a:r>
              <a:rPr lang="en-IN" sz="3200" dirty="0">
                <a:solidFill>
                  <a:schemeClr val="accent2"/>
                </a:solidFill>
              </a:rPr>
              <a:t>AUTHOR</a:t>
            </a:r>
          </a:p>
          <a:p>
            <a:pPr marL="0" indent="0">
              <a:buNone/>
            </a:pPr>
            <a:r>
              <a:rPr lang="en-IN" sz="3200" b="1" dirty="0"/>
              <a:t>                    </a:t>
            </a:r>
            <a:r>
              <a:rPr lang="en-IN" sz="3200" b="1" dirty="0">
                <a:latin typeface="Verdana" panose="020B0604030504040204" pitchFamily="34" charset="0"/>
                <a:ea typeface="Verdana" panose="020B0604030504040204" pitchFamily="34" charset="0"/>
              </a:rPr>
              <a:t>REVATHY</a:t>
            </a:r>
          </a:p>
        </p:txBody>
      </p:sp>
    </p:spTree>
    <p:extLst>
      <p:ext uri="{BB962C8B-B14F-4D97-AF65-F5344CB8AC3E}">
        <p14:creationId xmlns:p14="http://schemas.microsoft.com/office/powerpoint/2010/main" val="972834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2702A-4F43-606B-E0E1-97DA8FAC7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755" y="824168"/>
            <a:ext cx="8911687" cy="644251"/>
          </a:xfrm>
        </p:spPr>
        <p:txBody>
          <a:bodyPr/>
          <a:lstStyle/>
          <a:p>
            <a:r>
              <a:rPr lang="en-IN" dirty="0"/>
              <a:t> </a:t>
            </a:r>
            <a:r>
              <a:rPr lang="en-IN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7E0A9-EC99-260F-0885-41D19FFF0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406" y="1934084"/>
            <a:ext cx="8915400" cy="3777622"/>
          </a:xfrm>
        </p:spPr>
        <p:txBody>
          <a:bodyPr>
            <a:normAutofit/>
          </a:bodyPr>
          <a:lstStyle/>
          <a:p>
            <a:pPr>
              <a:lnSpc>
                <a:spcPct val="300000"/>
              </a:lnSpc>
            </a:pPr>
            <a:r>
              <a:rPr lang="en-US" dirty="0"/>
              <a:t>Businesses selling mobile phones often struggle to: - Track brand-wise performance - Identify top-selling models - Analyze regional sales trends - Understand customer purchase behavior. This project solves these problems by building an interactive Power BI dashboard using a dataset of 5000 records.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155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8BB26-C7B2-23B7-A20A-ECA42BEE0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298" y="574528"/>
            <a:ext cx="8911687" cy="844041"/>
          </a:xfrm>
        </p:spPr>
        <p:txBody>
          <a:bodyPr/>
          <a:lstStyle/>
          <a:p>
            <a:r>
              <a:rPr lang="en-IN" b="1" dirty="0"/>
              <a:t>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18465-C72B-8EE1-5B18-A20523C9D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6849" y="1793026"/>
            <a:ext cx="8915400" cy="3777622"/>
          </a:xfrm>
        </p:spPr>
        <p:txBody>
          <a:bodyPr>
            <a:normAutofit/>
          </a:bodyPr>
          <a:lstStyle/>
          <a:p>
            <a:pPr>
              <a:lnSpc>
                <a:spcPct val="250000"/>
              </a:lnSpc>
            </a:pPr>
            <a:r>
              <a:rPr lang="en-US" sz="2400" dirty="0"/>
              <a:t> </a:t>
            </a:r>
            <a:r>
              <a:rPr lang="en-US" sz="1900" dirty="0">
                <a:latin typeface="Trebuchet MS (Body)"/>
                <a:ea typeface="Verdana" panose="020B0604030504040204" pitchFamily="34" charset="0"/>
              </a:rPr>
              <a:t>Analyze mobile sales performance by brand</a:t>
            </a:r>
          </a:p>
          <a:p>
            <a:pPr>
              <a:lnSpc>
                <a:spcPct val="250000"/>
              </a:lnSpc>
            </a:pPr>
            <a:r>
              <a:rPr lang="en-US" sz="1900" dirty="0">
                <a:latin typeface="Trebuchet MS (Body)"/>
                <a:ea typeface="Verdana" panose="020B0604030504040204" pitchFamily="34" charset="0"/>
              </a:rPr>
              <a:t> Identify top 10 selling models</a:t>
            </a:r>
          </a:p>
          <a:p>
            <a:pPr>
              <a:lnSpc>
                <a:spcPct val="250000"/>
              </a:lnSpc>
            </a:pPr>
            <a:r>
              <a:rPr lang="en-US" sz="1900" dirty="0">
                <a:latin typeface="Trebuchet MS (Body)"/>
                <a:ea typeface="Verdana" panose="020B0604030504040204" pitchFamily="34" charset="0"/>
              </a:rPr>
              <a:t> Track </a:t>
            </a:r>
            <a:r>
              <a:rPr lang="en-US" dirty="0">
                <a:latin typeface="Trebuchet MS (Body)"/>
                <a:ea typeface="Verdana" panose="020B0604030504040204" pitchFamily="34" charset="0"/>
              </a:rPr>
              <a:t>monthly</a:t>
            </a:r>
            <a:r>
              <a:rPr lang="en-US" sz="1900" dirty="0">
                <a:latin typeface="Trebuchet MS (Body)"/>
                <a:ea typeface="Verdana" panose="020B0604030504040204" pitchFamily="34" charset="0"/>
              </a:rPr>
              <a:t> and yearly sales trends</a:t>
            </a:r>
          </a:p>
          <a:p>
            <a:pPr>
              <a:lnSpc>
                <a:spcPct val="250000"/>
              </a:lnSpc>
            </a:pPr>
            <a:r>
              <a:rPr lang="en-US" sz="1900" dirty="0">
                <a:latin typeface="Trebuchet MS (Body)"/>
                <a:ea typeface="Verdana" panose="020B0604030504040204" pitchFamily="34" charset="0"/>
              </a:rPr>
              <a:t> Provide </a:t>
            </a:r>
            <a:r>
              <a:rPr lang="en-US" dirty="0">
                <a:latin typeface="Trebuchet MS (Body)"/>
                <a:ea typeface="Verdana" panose="020B0604030504040204" pitchFamily="34" charset="0"/>
              </a:rPr>
              <a:t>actionable</a:t>
            </a:r>
            <a:r>
              <a:rPr lang="en-US" sz="1900" dirty="0">
                <a:latin typeface="Trebuchet MS (Body)"/>
                <a:ea typeface="Verdana" panose="020B0604030504040204" pitchFamily="34" charset="0"/>
              </a:rPr>
              <a:t> insights for business decisions</a:t>
            </a:r>
            <a:endParaRPr lang="en-IN" sz="1900" dirty="0">
              <a:latin typeface="Trebuchet MS (Body)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823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50585-DDB9-8222-DF38-0B7E3AD51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97" y="0"/>
            <a:ext cx="9675812" cy="717993"/>
          </a:xfrm>
        </p:spPr>
        <p:txBody>
          <a:bodyPr/>
          <a:lstStyle/>
          <a:p>
            <a:r>
              <a:rPr lang="en-IN" b="1" dirty="0"/>
              <a:t>Dataset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996CF-3D66-1894-5092-BDC729244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5233" y="932305"/>
            <a:ext cx="8143117" cy="5925695"/>
          </a:xfrm>
        </p:spPr>
        <p:txBody>
          <a:bodyPr>
            <a:noAutofit/>
          </a:bodyPr>
          <a:lstStyle/>
          <a:p>
            <a:r>
              <a:rPr lang="en-US" dirty="0"/>
              <a:t>Total Rows: 5000</a:t>
            </a:r>
          </a:p>
          <a:p>
            <a:r>
              <a:rPr lang="en-US" dirty="0"/>
              <a:t>Columns</a:t>
            </a:r>
          </a:p>
          <a:p>
            <a:r>
              <a:rPr lang="en-US" dirty="0"/>
              <a:t>Order ID    </a:t>
            </a:r>
          </a:p>
          <a:p>
            <a:r>
              <a:rPr lang="en-US" dirty="0"/>
              <a:t>Date    </a:t>
            </a:r>
          </a:p>
          <a:p>
            <a:r>
              <a:rPr lang="en-US" dirty="0"/>
              <a:t>Brand    </a:t>
            </a:r>
          </a:p>
          <a:p>
            <a:r>
              <a:rPr lang="en-US" dirty="0"/>
              <a:t>Model    </a:t>
            </a:r>
          </a:p>
          <a:p>
            <a:r>
              <a:rPr lang="en-US" dirty="0"/>
              <a:t>Region   </a:t>
            </a:r>
          </a:p>
          <a:p>
            <a:r>
              <a:rPr lang="en-US" dirty="0"/>
              <a:t>Quantity Sold    </a:t>
            </a:r>
          </a:p>
          <a:p>
            <a:r>
              <a:rPr lang="en-US" dirty="0"/>
              <a:t>Price    </a:t>
            </a:r>
          </a:p>
          <a:p>
            <a:r>
              <a:rPr lang="en-US" dirty="0"/>
              <a:t>Total Sales    </a:t>
            </a:r>
          </a:p>
          <a:p>
            <a:r>
              <a:rPr lang="en-US" dirty="0"/>
              <a:t>Customer Type    </a:t>
            </a:r>
          </a:p>
          <a:p>
            <a:r>
              <a:rPr lang="en-US" dirty="0"/>
              <a:t>Payment Mode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2324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4157C-E4DE-7B28-30DB-B0D9B1782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779051" cy="717993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b="1" dirty="0"/>
              <a:t>ETL Process (Power Query Editor - PQE)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E53D2-F89E-5640-774C-9B568337E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266" y="358996"/>
            <a:ext cx="8915400" cy="6125719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IN" sz="2200" dirty="0"/>
              <a:t> </a:t>
            </a:r>
            <a:r>
              <a:rPr lang="en-IN" dirty="0"/>
              <a:t>1. Extract</a:t>
            </a:r>
          </a:p>
          <a:p>
            <a:pPr>
              <a:lnSpc>
                <a:spcPct val="170000"/>
              </a:lnSpc>
            </a:pPr>
            <a:r>
              <a:rPr lang="en-IN" dirty="0"/>
              <a:t>          Imported dataset (Excel/CSV) into Power BI</a:t>
            </a:r>
          </a:p>
          <a:p>
            <a:pPr>
              <a:lnSpc>
                <a:spcPct val="170000"/>
              </a:lnSpc>
            </a:pPr>
            <a:r>
              <a:rPr lang="en-IN" dirty="0"/>
              <a:t> 2. Transform (Data Cleaning)Performed using Power Query Editor: </a:t>
            </a:r>
          </a:p>
          <a:p>
            <a:pPr>
              <a:lnSpc>
                <a:spcPct val="170000"/>
              </a:lnSpc>
            </a:pPr>
            <a:r>
              <a:rPr lang="en-IN" dirty="0"/>
              <a:t>          Removed duplicates </a:t>
            </a:r>
          </a:p>
          <a:p>
            <a:pPr>
              <a:lnSpc>
                <a:spcPct val="170000"/>
              </a:lnSpc>
            </a:pPr>
            <a:r>
              <a:rPr lang="en-IN" dirty="0"/>
              <a:t>           Handled missing values </a:t>
            </a:r>
          </a:p>
          <a:p>
            <a:pPr>
              <a:lnSpc>
                <a:spcPct val="170000"/>
              </a:lnSpc>
            </a:pPr>
            <a:r>
              <a:rPr lang="en-IN" dirty="0"/>
              <a:t>           Changed data types </a:t>
            </a:r>
          </a:p>
          <a:p>
            <a:pPr>
              <a:lnSpc>
                <a:spcPct val="170000"/>
              </a:lnSpc>
            </a:pPr>
            <a:r>
              <a:rPr lang="en-IN" dirty="0"/>
              <a:t>            Split columns where required </a:t>
            </a:r>
          </a:p>
          <a:p>
            <a:pPr>
              <a:lnSpc>
                <a:spcPct val="170000"/>
              </a:lnSpc>
            </a:pPr>
            <a:r>
              <a:rPr lang="en-IN" dirty="0"/>
              <a:t>            Created calculated columns (Total Sales = Quantity \* Price)  </a:t>
            </a:r>
          </a:p>
          <a:p>
            <a:pPr>
              <a:lnSpc>
                <a:spcPct val="170000"/>
              </a:lnSpc>
            </a:pPr>
            <a:r>
              <a:rPr lang="en-IN" dirty="0"/>
              <a:t>            Standardized text values (Brand names, Regions)</a:t>
            </a:r>
          </a:p>
          <a:p>
            <a:pPr>
              <a:lnSpc>
                <a:spcPct val="170000"/>
              </a:lnSpc>
            </a:pPr>
            <a:r>
              <a:rPr lang="en-IN" dirty="0"/>
              <a:t>  3. Load</a:t>
            </a:r>
          </a:p>
          <a:p>
            <a:pPr>
              <a:lnSpc>
                <a:spcPct val="170000"/>
              </a:lnSpc>
            </a:pPr>
            <a:r>
              <a:rPr lang="en-IN" dirty="0"/>
              <a:t>             Loaded cleaned dataset into Power BI model</a:t>
            </a:r>
          </a:p>
        </p:txBody>
      </p:sp>
    </p:spTree>
    <p:extLst>
      <p:ext uri="{BB962C8B-B14F-4D97-AF65-F5344CB8AC3E}">
        <p14:creationId xmlns:p14="http://schemas.microsoft.com/office/powerpoint/2010/main" val="297537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87CD4-9357-33A6-6DA5-38EAFF7CD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4053" y="624110"/>
            <a:ext cx="9690560" cy="762238"/>
          </a:xfrm>
        </p:spPr>
        <p:txBody>
          <a:bodyPr/>
          <a:lstStyle/>
          <a:p>
            <a:r>
              <a:rPr lang="en-IN" b="1" dirty="0"/>
              <a:t>Data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C234E-D81B-2BD1-A834-0776FECDE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3" y="1540189"/>
            <a:ext cx="8915400" cy="377762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250000"/>
              </a:lnSpc>
            </a:pPr>
            <a:r>
              <a:rPr lang="en-US" dirty="0"/>
              <a:t> Created relationships between tables (if applicable) </a:t>
            </a:r>
          </a:p>
          <a:p>
            <a:pPr>
              <a:lnSpc>
                <a:spcPct val="250000"/>
              </a:lnSpc>
            </a:pPr>
            <a:r>
              <a:rPr lang="en-IN" dirty="0"/>
              <a:t> Built measures using DAX:</a:t>
            </a:r>
          </a:p>
          <a:p>
            <a:pPr>
              <a:lnSpc>
                <a:spcPct val="250000"/>
              </a:lnSpc>
            </a:pPr>
            <a:r>
              <a:rPr lang="en-US" dirty="0"/>
              <a:t>Total Sales</a:t>
            </a:r>
          </a:p>
          <a:p>
            <a:pPr>
              <a:lnSpc>
                <a:spcPct val="250000"/>
              </a:lnSpc>
            </a:pPr>
            <a:r>
              <a:rPr lang="en-US" dirty="0"/>
              <a:t> Total Quantity  </a:t>
            </a:r>
          </a:p>
          <a:p>
            <a:pPr>
              <a:lnSpc>
                <a:spcPct val="250000"/>
              </a:lnSpc>
            </a:pPr>
            <a:r>
              <a:rPr lang="en-US" dirty="0"/>
              <a:t>Average Price    </a:t>
            </a:r>
          </a:p>
          <a:p>
            <a:pPr>
              <a:lnSpc>
                <a:spcPct val="250000"/>
              </a:lnSpc>
            </a:pPr>
            <a:r>
              <a:rPr lang="en-US" dirty="0"/>
              <a:t> Top 10 Models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0243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95A7E-35D2-EC62-8BE6-2308B2520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6065" y="624110"/>
            <a:ext cx="9808547" cy="732742"/>
          </a:xfrm>
        </p:spPr>
        <p:txBody>
          <a:bodyPr/>
          <a:lstStyle/>
          <a:p>
            <a:r>
              <a:rPr lang="en-IN" b="1" dirty="0"/>
              <a:t> Dashboard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6A700-17BB-63A2-D1FA-130781BA8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40189"/>
            <a:ext cx="8915400" cy="3777622"/>
          </a:xfrm>
        </p:spPr>
        <p:txBody>
          <a:bodyPr>
            <a:noAutofit/>
          </a:bodyPr>
          <a:lstStyle/>
          <a:p>
            <a:pPr>
              <a:lnSpc>
                <a:spcPct val="250000"/>
              </a:lnSpc>
            </a:pPr>
            <a:r>
              <a:rPr lang="en-US" dirty="0"/>
              <a:t> KPI Cards (Total Sales, Quantity, Revenue)- </a:t>
            </a:r>
          </a:p>
          <a:p>
            <a:pPr>
              <a:lnSpc>
                <a:spcPct val="250000"/>
              </a:lnSpc>
            </a:pPr>
            <a:r>
              <a:rPr lang="en-US" dirty="0"/>
              <a:t> Brand-wise Sales Bar Chart- </a:t>
            </a:r>
          </a:p>
          <a:p>
            <a:pPr>
              <a:lnSpc>
                <a:spcPct val="250000"/>
              </a:lnSpc>
            </a:pPr>
            <a:r>
              <a:rPr lang="en-US" dirty="0"/>
              <a:t> Monthly Sales Trend Line Chart-  </a:t>
            </a:r>
          </a:p>
          <a:p>
            <a:pPr>
              <a:lnSpc>
                <a:spcPct val="250000"/>
              </a:lnSpc>
            </a:pPr>
            <a:r>
              <a:rPr lang="en-US" dirty="0"/>
              <a:t> Region-wise Sales Map-  </a:t>
            </a:r>
          </a:p>
          <a:p>
            <a:pPr>
              <a:lnSpc>
                <a:spcPct val="250000"/>
              </a:lnSpc>
            </a:pPr>
            <a:r>
              <a:rPr lang="en-US" dirty="0"/>
              <a:t> Top 10 Models Table- </a:t>
            </a:r>
          </a:p>
          <a:p>
            <a:pPr>
              <a:lnSpc>
                <a:spcPct val="250000"/>
              </a:lnSpc>
            </a:pPr>
            <a:r>
              <a:rPr lang="en-US" dirty="0"/>
              <a:t>  Interactive Filters (Brand, Region, Date)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6100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0DC8C-F284-DAB1-A682-09D517EB4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819" y="624110"/>
            <a:ext cx="9852793" cy="61475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Importance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12394-4A3B-E4D1-AAE6-E83F16E8E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87671"/>
            <a:ext cx="8915400" cy="3777622"/>
          </a:xfrm>
        </p:spPr>
        <p:txBody>
          <a:bodyPr>
            <a:noAutofit/>
          </a:bodyPr>
          <a:lstStyle/>
          <a:p>
            <a:pPr>
              <a:lnSpc>
                <a:spcPct val="300000"/>
              </a:lnSpc>
            </a:pPr>
            <a:r>
              <a:rPr lang="en-US" dirty="0"/>
              <a:t>  Helps businesses make data-</a:t>
            </a:r>
          </a:p>
          <a:p>
            <a:pPr>
              <a:lnSpc>
                <a:spcPct val="300000"/>
              </a:lnSpc>
            </a:pPr>
            <a:r>
              <a:rPr lang="en-US" dirty="0"/>
              <a:t>  Driven decisions-  </a:t>
            </a:r>
          </a:p>
          <a:p>
            <a:pPr>
              <a:lnSpc>
                <a:spcPct val="300000"/>
              </a:lnSpc>
            </a:pPr>
            <a:r>
              <a:rPr lang="en-US" dirty="0"/>
              <a:t>  Improves sales strategy planning- </a:t>
            </a:r>
          </a:p>
          <a:p>
            <a:pPr>
              <a:lnSpc>
                <a:spcPct val="300000"/>
              </a:lnSpc>
            </a:pPr>
            <a:r>
              <a:rPr lang="en-US" dirty="0"/>
              <a:t>  Identifies high-performing brands and regions- </a:t>
            </a:r>
          </a:p>
          <a:p>
            <a:pPr>
              <a:lnSpc>
                <a:spcPct val="300000"/>
              </a:lnSpc>
            </a:pPr>
            <a:r>
              <a:rPr lang="en-US" dirty="0"/>
              <a:t>  Enhances reporting efficiency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600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B44E9-AB66-D417-7C5F-FD81DF99E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033" y="624110"/>
            <a:ext cx="9513580" cy="1280890"/>
          </a:xfrm>
        </p:spPr>
        <p:txBody>
          <a:bodyPr/>
          <a:lstStyle/>
          <a:p>
            <a:r>
              <a:rPr lang="en-IN" b="1" dirty="0"/>
              <a:t>Dashboard Preview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B6894D9-76FF-470B-4C4E-B43475E32B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562707" y="1760364"/>
            <a:ext cx="8693834" cy="4473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0142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925DE-08BB-4CD3-8E69-C266A83CB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1317" y="624110"/>
            <a:ext cx="9823296" cy="791735"/>
          </a:xfrm>
        </p:spPr>
        <p:txBody>
          <a:bodyPr/>
          <a:lstStyle/>
          <a:p>
            <a:r>
              <a:rPr lang="en-IN" b="1" dirty="0"/>
              <a:t>Tools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65290-FC8C-58B3-B8F9-D40CF2613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3" y="1540189"/>
            <a:ext cx="8915400" cy="3777622"/>
          </a:xfrm>
        </p:spPr>
        <p:txBody>
          <a:bodyPr/>
          <a:lstStyle/>
          <a:p>
            <a:pPr>
              <a:lnSpc>
                <a:spcPct val="300000"/>
              </a:lnSpc>
            </a:pPr>
            <a:r>
              <a:rPr lang="en-IN" dirty="0"/>
              <a:t>  Microsoft Power BI</a:t>
            </a:r>
          </a:p>
          <a:p>
            <a:pPr>
              <a:lnSpc>
                <a:spcPct val="300000"/>
              </a:lnSpc>
            </a:pPr>
            <a:r>
              <a:rPr lang="en-IN" dirty="0"/>
              <a:t>  Power Query Editor (ETL)</a:t>
            </a:r>
          </a:p>
          <a:p>
            <a:pPr>
              <a:lnSpc>
                <a:spcPct val="300000"/>
              </a:lnSpc>
            </a:pPr>
            <a:r>
              <a:rPr lang="en-IN" dirty="0"/>
              <a:t>  DAX (Data Analysis Expressions)   </a:t>
            </a:r>
          </a:p>
          <a:p>
            <a:pPr>
              <a:lnSpc>
                <a:spcPct val="300000"/>
              </a:lnSpc>
            </a:pPr>
            <a:r>
              <a:rPr lang="en-IN" dirty="0"/>
              <a:t>  Excel / CSV Dataset</a:t>
            </a:r>
          </a:p>
        </p:txBody>
      </p:sp>
    </p:spTree>
    <p:extLst>
      <p:ext uri="{BB962C8B-B14F-4D97-AF65-F5344CB8AC3E}">
        <p14:creationId xmlns:p14="http://schemas.microsoft.com/office/powerpoint/2010/main" val="3158127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F58F4-3149-DFF3-8DE1-992997ED5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0757" y="668355"/>
            <a:ext cx="8911687" cy="1280890"/>
          </a:xfrm>
        </p:spPr>
        <p:txBody>
          <a:bodyPr/>
          <a:lstStyle/>
          <a:p>
            <a:r>
              <a:rPr lang="en-IN" b="1" dirty="0"/>
              <a:t>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B42E9-C2C4-C735-65E8-6C9EACCFA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1219" y="1949245"/>
            <a:ext cx="8915400" cy="3777622"/>
          </a:xfrm>
        </p:spPr>
        <p:txBody>
          <a:bodyPr>
            <a:normAutofit/>
          </a:bodyPr>
          <a:lstStyle/>
          <a:p>
            <a:pPr>
              <a:lnSpc>
                <a:spcPct val="250000"/>
              </a:lnSpc>
            </a:pPr>
            <a:r>
              <a:rPr lang="en-US" sz="2800" dirty="0"/>
              <a:t>This dashboard provides a complete overview of mobile sales performance and enables stakeholders to make informed decisions quickly.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34228732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67</TotalTime>
  <Words>345</Words>
  <Application>Microsoft Office PowerPoint</Application>
  <PresentationFormat>Widescreen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Trebuchet MS</vt:lpstr>
      <vt:lpstr>Trebuchet MS (Body)</vt:lpstr>
      <vt:lpstr>Verdana</vt:lpstr>
      <vt:lpstr>Wingdings 3</vt:lpstr>
      <vt:lpstr>Facet</vt:lpstr>
      <vt:lpstr> Brandwise Mobile Sales Dashboard</vt:lpstr>
      <vt:lpstr> Problem Statement</vt:lpstr>
      <vt:lpstr> Objective</vt:lpstr>
      <vt:lpstr>Dataset Information</vt:lpstr>
      <vt:lpstr> ETL Process (Power Query Editor - PQE)</vt:lpstr>
      <vt:lpstr>Data Modeling</vt:lpstr>
      <vt:lpstr> Dashboard Features</vt:lpstr>
      <vt:lpstr>Importance of the Project</vt:lpstr>
      <vt:lpstr>Dashboard Preview</vt:lpstr>
      <vt:lpstr>Tools Used</vt:lpstr>
      <vt:lpstr>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Brandwise Mobile Sales Dashboard</dc:title>
  <dc:creator>Priyanka Kalaiyarasan</dc:creator>
  <cp:lastModifiedBy>hp</cp:lastModifiedBy>
  <cp:revision>6</cp:revision>
  <dcterms:created xsi:type="dcterms:W3CDTF">2026-05-04T09:48:00Z</dcterms:created>
  <dcterms:modified xsi:type="dcterms:W3CDTF">2026-05-05T06:58:13Z</dcterms:modified>
</cp:coreProperties>
</file>